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731520"/>
            <a:ext cx="4572000" cy="38404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74980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CLINICUM DIGITALE  ·  SPRING 2026  ·  PROJECT 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LLM-Powered Automated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9E0B"/>
                </a:solidFill>
                <a:latin typeface="Calibri"/>
              </a:defRPr>
            </a:pPr>
            <a:r>
              <a:t>Tumor 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from Clinical Text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8404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Build a web tool that extracts structured oncological information</a:t>
            </a:r>
            <a:br/>
            <a:r>
              <a:t>from clinical documents using LLM-based RAG and ICD-O coding.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4663440"/>
            <a:ext cx="1828800" cy="347472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681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📄 Document Upload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663440"/>
            <a:ext cx="1828800" cy="347472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4681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🧠 LLM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4663440"/>
            <a:ext cx="1828800" cy="347472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6817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📊 ICD-O Coding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349240"/>
            <a:ext cx="5760720" cy="77724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4800" y="546811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IW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5468112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440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Isabella Catharina Wiest &amp; Naghme Dashti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5715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EKFZ Digital Health · TU Dresden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6035040"/>
            <a:ext cx="731520" cy="5029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60807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EKFZ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0" y="6035040"/>
            <a:ext cx="731520" cy="5029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60807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TUD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6035040"/>
            <a:ext cx="731520" cy="5029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0" y="608076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CGC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017520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0"/>
            <a:ext cx="54864" cy="685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9770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</a:t>
            </a:r>
            <a:br/>
            <a:r>
              <a:t>Documentation</a:t>
            </a:r>
            <a:br/>
            <a:r>
              <a:t>Burden in</a:t>
            </a:r>
            <a:br/>
            <a:r>
              <a:t>Oncology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Why structured tumor</a:t>
            </a:r>
            <a:br/>
            <a:r>
              <a:t>documentation needs</a:t>
            </a:r>
            <a:br/>
            <a:r>
              <a:t>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EKFZ · TU Dresden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"/>
            <a:ext cx="4160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74320"/>
            <a:ext cx="4160520" cy="640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4389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389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Massive Unstructured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758952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Physician letters, pathology reports,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follow-up notes — all as free 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74320"/>
            <a:ext cx="4160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274320"/>
            <a:ext cx="4160520" cy="6400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43891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⏱️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389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Manual Entry Bottleneck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758952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30+ min per patient to transfer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tumor info into registries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600200"/>
            <a:ext cx="4160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83280" y="1600200"/>
            <a:ext cx="4160520" cy="640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764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7647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Fragmented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084831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Tumor data scattered across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multiple documents per patient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600200"/>
            <a:ext cx="4160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18120" y="1600200"/>
            <a:ext cx="4160520" cy="640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0" y="17647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7647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Incomplete Data Affects Care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084831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Missing data impacts therapy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decisions &amp; tumor boards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017520"/>
            <a:ext cx="4160520" cy="123444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30906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❌  TODAY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3375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📄 Read Docs → ✍️ Manual Extraction → 📋 Registry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6118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43F5E"/>
                </a:solidFill>
                <a:latin typeface="Calibri"/>
              </a:defRPr>
            </a:pPr>
            <a:r>
              <a:t>⏳ 30+ min/patient · Error-prone · Incomplete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77 OCR docs · 50 patients · 63 GT tumor labels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3017520"/>
            <a:ext cx="4160520" cy="12344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01000" y="30906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✅  OUR VISION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33756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alibri"/>
              </a:defRPr>
            </a:pPr>
            <a:r>
              <a:t>📄 Upload Docs → 🤖 LLM Pipeline → 📊 Structured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611880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⚡ Automated · ICD-O structured · Complete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4,241 ICD-O dictionary terms available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4526280"/>
            <a:ext cx="850392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77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4892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OCR Documents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4892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Patients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63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892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GT Labels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572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4,241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48920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ICD-O Terms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017520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0"/>
            <a:ext cx="54864" cy="685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9770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ICD-O:</a:t>
            </a:r>
            <a:br/>
            <a:r>
              <a:t>The Oncology</a:t>
            </a:r>
            <a:br/>
            <a:r>
              <a:t>Coding</a:t>
            </a:r>
            <a:br/>
            <a:r>
              <a:t>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Dual-axis classification:</a:t>
            </a:r>
            <a:br/>
            <a:r>
              <a:t>WHERE + 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EKFZ · TU Dresden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"/>
            <a:ext cx="4160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74320"/>
            <a:ext cx="4160520" cy="5029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200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📍  TOPOGRAPHY — Where?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86868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1,338 terms in ICD-O-3 dictionary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Format: C00–C80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Examples: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C73.9 → Thyroid gland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C61   → Prostate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C50.9 → Breast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C18.0 → Cecum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74320"/>
            <a:ext cx="41605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8120" y="274320"/>
            <a:ext cx="4160520" cy="5029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3200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🔬  MORPHOLOGY — What?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86868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2,903 terms in ICD-O-3 dictionary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Format: XXXX/B (histology/behavior)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Behavior codes: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/0 = Benign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/2 = In situ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/3 = Malignant, primary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  /6 = Malignant, metastatic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429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Clinical Document 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7947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3794760"/>
            <a:ext cx="20116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931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931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Arztbrief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187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Physician letter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4480560"/>
            <a:ext cx="1828800" cy="1371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448056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document-specific prompt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37947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532120" y="3794760"/>
            <a:ext cx="20116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3931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3931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Pathologiebefund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4187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Histology report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4480560"/>
            <a:ext cx="1828800" cy="1371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60" y="448056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document-specific prompt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7947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680960" y="3794760"/>
            <a:ext cx="201168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3931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931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Verlaufsdoku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187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Follow-up notes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480560"/>
            <a:ext cx="1828800" cy="1371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448056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document-specific prompt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29800" y="3794760"/>
            <a:ext cx="2011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29800" y="3794760"/>
            <a:ext cx="201168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3931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93B"/>
                </a:solidFill>
                <a:latin typeface="Calibri"/>
              </a:defRPr>
            </a:pPr>
            <a:r>
              <a:t>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393192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Befundbericht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87000" y="4187952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Imaging reports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21240" y="4480560"/>
            <a:ext cx="1828800" cy="1371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21240" y="4480560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Calibri"/>
              </a:defRPr>
            </a:pPr>
            <a:r>
              <a:t>document-specific prompt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3280" y="4983480"/>
            <a:ext cx="8503920" cy="5029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60" y="502920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97706"/>
                </a:solidFill>
                <a:latin typeface="Calibri"/>
              </a:defRPr>
            </a:pPr>
            <a:r>
              <a:t>💡  Each document type triggers a different prompt in the LLM pipeline → type assignment is a critical user task!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017520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0"/>
            <a:ext cx="54864" cy="685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9770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Multi-Stage</a:t>
            </a:r>
            <a:br/>
            <a:r>
              <a:t>LLM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Four stages from raw</a:t>
            </a:r>
            <a:br/>
            <a:r>
              <a:t>documents to structured</a:t>
            </a:r>
            <a:br/>
            <a:r>
              <a:t>ICD-O codes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EKFZ · TU Dresden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"/>
            <a:ext cx="6858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20440" y="411479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3657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931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Document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OCR clinical docs → merge per patient → clean &amp; 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11887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D5E1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6858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66360" y="1600200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15544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819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3F5E"/>
                </a:solidFill>
                <a:latin typeface="Calibri"/>
              </a:defRPr>
            </a:pPr>
            <a:r>
              <a:t>LLM Summarization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GPT-OSS-120B → map-reduce → 7–10 sentence tumor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2377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D5E1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2651760"/>
            <a:ext cx="6858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20440" y="278892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743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7706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RAG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BGE-M3 embeddings → cosine similarity → Top-K Morph &amp; Topo candidates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3566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D5E1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840480"/>
            <a:ext cx="6858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66360" y="397764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3931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93B"/>
                </a:solidFill>
                <a:latin typeface="Calibri"/>
              </a:defRPr>
            </a:pPr>
            <a:r>
              <a:t>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9593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Calibri"/>
              </a:defRPr>
            </a:pPr>
            <a:r>
              <a:t>ICD-O Code Assignment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LLM reads summary + candidates → structured JSON → Morph + Topo + Reason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5166360"/>
            <a:ext cx="8503920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83280" y="5166360"/>
            <a:ext cx="73152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52303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💡  The entire pipeline exists as a FastAPI backend — you build the web interface!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943600"/>
            <a:ext cx="2011680" cy="320040"/>
          </a:xfrm>
          <a:prstGeom prst="roundRect">
            <a:avLst/>
          </a:prstGeom>
          <a:solidFill>
            <a:srgbClr val="FDFAF6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5961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3F5E"/>
                </a:solidFill>
                <a:latin typeface="Calibri"/>
              </a:defRPr>
            </a:pPr>
            <a:r>
              <a:t>🧠 GPT-OSS-120B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5943600"/>
            <a:ext cx="2011680" cy="320040"/>
          </a:xfrm>
          <a:prstGeom prst="roundRect">
            <a:avLst/>
          </a:prstGeom>
          <a:solidFill>
            <a:srgbClr val="FDFAF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0" y="5961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📐 BGE-M3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5943600"/>
            <a:ext cx="2011680" cy="320040"/>
          </a:xfrm>
          <a:prstGeom prst="roundRect">
            <a:avLst/>
          </a:prstGeom>
          <a:solidFill>
            <a:srgbClr val="FDFAF6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5961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📖 ICD-O-3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66960" y="5943600"/>
            <a:ext cx="2011680" cy="320040"/>
          </a:xfrm>
          <a:prstGeom prst="roundRect">
            <a:avLst/>
          </a:prstGeom>
          <a:solidFill>
            <a:srgbClr val="FDFAF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59618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⚡ FastAPI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017520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0"/>
            <a:ext cx="54864" cy="685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9770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Research</a:t>
            </a:r>
            <a:br/>
            <a:r>
              <a:t>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Baseline evaluation on</a:t>
            </a:r>
            <a:br/>
            <a:r>
              <a:t>50 patients with</a:t>
            </a:r>
            <a:br/>
            <a:r>
              <a:t>ANY-match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EKFZ · TU Dresden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"/>
            <a:ext cx="4160520" cy="14173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6160" y="45720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75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LLM Reasoning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8229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When correct code IS in candidates: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81% Morph / 78% Topo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74320"/>
            <a:ext cx="4160520" cy="141732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01000" y="4572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54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Retrieval = 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8229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Correct code in Top-K candidates: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Only 23% Morph / 19% Topo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1965960"/>
            <a:ext cx="4160520" cy="141732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66160" y="2148840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167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NOS Code Bias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514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"NOS" codes over-represented: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3F5E"/>
                </a:solidFill>
                <a:latin typeface="Calibri"/>
              </a:defRPr>
            </a:pPr>
            <a:r>
              <a:t>8000/9 predicted in ~50% of cases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965960"/>
            <a:ext cx="4160520" cy="1417320"/>
          </a:xfrm>
          <a:prstGeom prst="roundRect">
            <a:avLst/>
          </a:prstGeom>
          <a:solidFill>
            <a:srgbClr val="ECFE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01000" y="2148840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167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Strict Match Underestimates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514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Calibri"/>
              </a:defRPr>
            </a:pPr>
            <a:r>
              <a:t>C61 vs C61.9 fails strict match: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788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Calibri"/>
              </a:defRPr>
            </a:pPr>
            <a:r>
              <a:t>Relaxed Topo accuracy: ~21%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3657600"/>
            <a:ext cx="8503920" cy="1691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3749039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What This Means for Your Sprint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114800"/>
            <a:ext cx="8138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→  The pipeline works — the LLM makes good coding decisions when given correct candidates.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→  What's missing: a user-facing tool for clinicians to upload, assign types, trigger, review.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→  That's exactly what you'll build!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You don't need to fix the retrieval — just build the web tool around the existing API.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017520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0"/>
            <a:ext cx="54864" cy="685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9770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Current</a:t>
            </a:r>
            <a:br/>
            <a:r>
              <a:t>Pipeline</a:t>
            </a:r>
            <a:br/>
            <a: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Research pipeline runs</a:t>
            </a:r>
            <a:br/>
            <a:r>
              <a:t>as Python scripts —</a:t>
            </a:r>
            <a:br/>
            <a:r>
              <a:t>no web interface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EKFZ · TU Dresden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"/>
            <a:ext cx="2697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74320"/>
            <a:ext cx="269748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926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OCR &amp; Summarization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005840"/>
            <a:ext cx="205740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0058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✅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417320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PaddleOCR → 77 text files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Merged to 50 patient docs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GPT-OSS-120B summarization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Map-reduce chunking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Robust multi-stage fallback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Output: JSON + CSV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74320"/>
            <a:ext cx="2697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"/>
            <a:ext cx="269748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Embeddings &amp; Retrieval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1005840"/>
            <a:ext cx="205740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0058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✅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417320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BGE-M3 embeddings (1024-dim)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50 summary embeddings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2,903 morphology embeddings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1,338 topography embeddings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Cosine similarity Top-K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Hybrid semantic + lexical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74320"/>
            <a:ext cx="26974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35440" y="274320"/>
            <a:ext cx="269748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92608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RAG ICD-O Prediction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005840"/>
            <a:ext cx="2057400" cy="2743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0058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🔄 In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417320"/>
            <a:ext cx="2423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LLM reads summary + candidates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Picks best Morph + Topo code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Structured JSON output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3 versions (v1→v3)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v3: organ-based filtering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FastAPI wrapper available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892040"/>
            <a:ext cx="4114800" cy="4572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📸 Patient Summary 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4892040"/>
            <a:ext cx="4297680" cy="4572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493776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📸 ICD-O Prediction JSON Example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5532120"/>
            <a:ext cx="850392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557784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🚀  Pipeline runs as scripts — now let's make it a usable web tool!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017520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0"/>
            <a:ext cx="54864" cy="685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9770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What You</a:t>
            </a:r>
            <a:br/>
            <a:r>
              <a:t>Will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Six core features</a:t>
            </a:r>
            <a:br/>
            <a:r>
              <a:t>for the web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EKFZ · TU Dresden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74320"/>
            <a:ext cx="25603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74720" y="411479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840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41147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Document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7315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Drag &amp; drop medical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docs with preview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743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"/>
            <a:ext cx="256032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9359" y="411479"/>
            <a:ext cx="320040" cy="3200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840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1147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Type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7315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Assign each doc: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Arztbrief, Patho, etc.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743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60" y="274320"/>
            <a:ext cx="256032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0" y="411479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840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411479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Pipeline Trigger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7315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Start LLM via FastAPI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with type-specific prompts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16459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83280" y="1645920"/>
            <a:ext cx="25603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74720" y="1783080"/>
            <a:ext cx="320040" cy="3200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17556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1783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Results Display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Show extracted info: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ICD-O Topo, Morph, Grade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6459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7920" y="1645920"/>
            <a:ext cx="256032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09359" y="1783080"/>
            <a:ext cx="320040" cy="3200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17556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✏️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1783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Review &amp; Edit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Clinicians review,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correct &amp; confirm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60" y="1645920"/>
            <a:ext cx="25603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52560" y="1645920"/>
            <a:ext cx="256032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0" y="1783080"/>
            <a:ext cx="320040" cy="3200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17556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293B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1783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Export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21031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Download JSON/CSV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64748B"/>
                </a:solidFill>
                <a:latin typeface="Calibri"/>
              </a:defRPr>
            </a:pPr>
            <a:r>
              <a:t>for registry integration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3017520"/>
            <a:ext cx="347472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383280" y="3017520"/>
            <a:ext cx="347472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3044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🧑‍💻  YOU BUILD THIS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34747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Document upload &amp; preview UI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Document type selector / tagging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API client for pipeline trigger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Results display &amp; visualization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Review / edit workflow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Export functionality (JSON / CSV)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86600" y="3017520"/>
            <a:ext cx="256032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086600" y="3017520"/>
            <a:ext cx="25603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86600" y="3044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🎁  PROVIDED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FastAPI backend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LLM summarization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RAG retrieval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ICD-O-3 embeddings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Doc-type prompts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75520" y="3017520"/>
            <a:ext cx="2103120" cy="2377440"/>
          </a:xfrm>
          <a:prstGeom prst="roundRect">
            <a:avLst/>
          </a:prstGeom>
          <a:solidFill>
            <a:srgbClr val="FFF1F2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875520" y="3017520"/>
            <a:ext cx="2103120" cy="3657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75520" y="30449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❌  OUT OF SCOPE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347472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No NLP/OCR dev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No model training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No medical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    validation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017520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0"/>
            <a:ext cx="54864" cy="685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97706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System</a:t>
            </a:r>
            <a:br/>
            <a: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Layered design:</a:t>
            </a:r>
            <a:br/>
            <a:r>
              <a:t>User → Frontend →</a:t>
            </a:r>
            <a:br/>
            <a:r>
              <a:t>API → Backend →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EKFZ · TU Dresden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"/>
            <a:ext cx="8503920" cy="45720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3017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Calibri"/>
              </a:defRPr>
            </a:pPr>
            <a:r>
              <a:t>👤  CLINICIAN / RESEARCHER — uploads documents, assigns types, reviews results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14400"/>
            <a:ext cx="8503920" cy="1645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960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Calibri"/>
              </a:defRPr>
            </a:pPr>
            <a:r>
              <a:t>🧑‍💻  FRONTEND — You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280160"/>
            <a:ext cx="1280160" cy="10515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93B"/>
                </a:solidFill>
                <a:latin typeface="Calibri"/>
              </a:defRPr>
            </a:pPr>
            <a:r>
              <a:t>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React/Vue/Streamlit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10328" y="1280160"/>
            <a:ext cx="1280160" cy="10515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93B"/>
                </a:solidFill>
                <a:latin typeface="Calibri"/>
              </a:defRPr>
            </a:pPr>
            <a:r>
              <a:t>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Type Select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React/Vue/Streamlit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0216" y="1280160"/>
            <a:ext cx="1280160" cy="10515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93B"/>
                </a:solidFill>
                <a:latin typeface="Calibri"/>
              </a:defRPr>
            </a:pPr>
            <a:r>
              <a:t>▶️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React/Vue/Streamlit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0104" y="1280160"/>
            <a:ext cx="1280160" cy="10515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0104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93B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React/Vue/Streamlit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9992" y="1280160"/>
            <a:ext cx="1280160" cy="10515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9992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93B"/>
                </a:solidFill>
                <a:latin typeface="Calibri"/>
              </a:defRPr>
            </a:pPr>
            <a:r>
              <a:t>✏️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992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9992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React/Vue/Streamlit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9880" y="1280160"/>
            <a:ext cx="1280160" cy="105156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1325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E293B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16916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Calibri"/>
              </a:defRPr>
            </a:pPr>
            <a:r>
              <a:t>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69880" y="19202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React/Vue/Streamlit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2697480"/>
            <a:ext cx="50292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27157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Calibri"/>
              </a:defRPr>
            </a:pPr>
            <a:r>
              <a:t>⇅  FastAPI  ·  REST API  ·  JSON  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83280" y="3291840"/>
            <a:ext cx="8503920" cy="14630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2044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🎁  BACKEND — Provided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3657600"/>
            <a:ext cx="1828800" cy="868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📄  Doc Processing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4023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OCR + merge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23560" y="3657600"/>
            <a:ext cx="1828800" cy="868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2356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🧠  LLM Summary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4023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GPT-OSS-120B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89520" y="3657600"/>
            <a:ext cx="1828800" cy="868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📐  RAG Retrieval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4023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BGE-M3 Top-K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555480" y="3657600"/>
            <a:ext cx="1828800" cy="86868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548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Calibri"/>
              </a:defRPr>
            </a:pPr>
            <a:r>
              <a:t>🏷  ICD-O Assign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80" y="4023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Morph + Topo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4983480"/>
            <a:ext cx="8503920" cy="4114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0" y="5010912"/>
            <a:ext cx="8503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📦  ICD-O-3 Dictionary (4,241 terms)  ·  BGE-M3 Embeddings  ·  Patient OCR Docs (50 patients)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3017520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17520" y="0"/>
            <a:ext cx="54864" cy="68580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D9770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Sprint Plan</a:t>
            </a:r>
            <a:br/>
            <a:r>
              <a:t>&amp; Team</a:t>
            </a:r>
            <a:br/>
            <a:r>
              <a:t>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377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4 working days</a:t>
            </a:r>
            <a:br/>
            <a:r>
              <a:t>from kick-off to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475569"/>
                </a:solidFill>
                <a:latin typeface="Calibri"/>
              </a:defRPr>
            </a:pPr>
            <a:r>
              <a:t>EKFZ · TU Dresden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43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274320"/>
            <a:ext cx="201168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92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FRI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594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Afternoon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Kick-off &amp; team formation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Understand pipeline &amp; API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Set up dev 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2743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77840" y="274320"/>
            <a:ext cx="2011680" cy="6400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292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94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Full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105156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Build upload module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Document type selector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Connect to FastAPI backend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743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0" y="274320"/>
            <a:ext cx="2011680" cy="6400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92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TUE 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94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Full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105156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Results display panel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Review / edit interface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Export &amp; progress tracking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274320"/>
            <a:ext cx="20116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6960" y="274320"/>
            <a:ext cx="2011680" cy="640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92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WED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5943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AM → PM 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1051560"/>
            <a:ext cx="1737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Polish UI &amp; bug fixes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Prepare demo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64748B"/>
                </a:solidFill>
                <a:latin typeface="Calibri"/>
              </a:defRPr>
            </a:pPr>
            <a:r>
              <a:t>→  Final presentation!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Team Roles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83280" y="4434840"/>
            <a:ext cx="20116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20440" y="452628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77640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Frontend 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4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UI components &amp; styling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4434840"/>
            <a:ext cx="20116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715000" y="4526280"/>
            <a:ext cx="365760" cy="36576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⚙️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API Lead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FastAPI integration &amp; data flow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4434840"/>
            <a:ext cx="20116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09560" y="452628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Clinical Expert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ICD-O understanding &amp; UX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66960" y="4434840"/>
            <a:ext cx="20116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104120" y="452628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61320" y="45262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Demo Lead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4800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alibri"/>
              </a:defRPr>
            </a:pPr>
            <a:r>
              <a:t>Presentation &amp; live demo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2743200" cy="274320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What You'll Gain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188720"/>
            <a:ext cx="2926080" cy="201168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1188720"/>
            <a:ext cx="292608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298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Clinical 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916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ICD-O oncology coding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Clinical document types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Tumor documentation workflow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Structured vs unstructured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2926080" cy="201168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1188720"/>
            <a:ext cx="2926080" cy="5486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298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3F5E"/>
                </a:solidFill>
                <a:latin typeface="Calibri"/>
              </a:defRPr>
            </a:pPr>
            <a:r>
              <a:t>Technical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6916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FastAPI integration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Modern frontend dev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LLM pipeline architecture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RAG system design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188720"/>
            <a:ext cx="2926080" cy="2011680"/>
          </a:xfrm>
          <a:prstGeom prst="roundRect">
            <a:avLst/>
          </a:prstGeom>
          <a:solidFill>
            <a:srgbClr val="33415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1188720"/>
            <a:ext cx="292608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12801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2984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Professional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16916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Agile sprint workflow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Team collaboration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Product demo &amp; pitching</a:t>
            </a:r>
          </a:p>
          <a:p>
            <a:pPr algn="l">
              <a:spcAft>
                <a:spcPts val="5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→  Digital Health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Calibri"/>
              </a:defRPr>
            </a:pPr>
            <a:r>
              <a:t>Ready to Transform Oncology Documentation?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45920" y="4206240"/>
            <a:ext cx="2103120" cy="34747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🧬  Real clinical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206240"/>
            <a:ext cx="2103120" cy="34747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43F5E"/>
                </a:solidFill>
                <a:latin typeface="Calibri"/>
              </a:defRPr>
            </a:pPr>
            <a:r>
              <a:t>🤖  LLM + RAG pipeline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206240"/>
            <a:ext cx="2103120" cy="34747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Calibri"/>
              </a:defRPr>
            </a:pPr>
            <a:r>
              <a:t>🏥  Impact on registries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4206240"/>
            <a:ext cx="2103120" cy="34747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42245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Calibri"/>
              </a:defRPr>
            </a:pPr>
            <a:r>
              <a:t>🚀  Research → Production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4846320"/>
            <a:ext cx="5760720" cy="82296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931920" y="498348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E293B"/>
                </a:solidFill>
              </a:defRPr>
            </a:pPr>
            <a:r>
              <a:t>IW</a:t>
            </a:r>
          </a:p>
        </p:txBody>
      </p:sp>
      <p:sp>
        <p:nvSpPr>
          <p:cNvPr id="33" name="Oval 32"/>
          <p:cNvSpPr/>
          <p:nvPr/>
        </p:nvSpPr>
        <p:spPr>
          <a:xfrm>
            <a:off x="4480560" y="4983480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9377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Isabella Catharina Wiest &amp; Naghme Dashti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52395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EKFZ Digital Health · TU Dresden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5943600"/>
            <a:ext cx="731520" cy="5029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0" y="5989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EKFZ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15600" y="5943600"/>
            <a:ext cx="731520" cy="5029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0" y="5989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TUD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0" y="5943600"/>
            <a:ext cx="731520" cy="50292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0" y="59893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CGC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CBD5E1"/>
                </a:solidFill>
                <a:latin typeface="Calibr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