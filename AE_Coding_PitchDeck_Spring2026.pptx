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72" y="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E6FBF7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3200400" cy="3657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Calibri"/>
              </a:defRPr>
            </a:pPr>
            <a:r>
              <a:t>CLINICUM DIGITALE  ·  SPRING 2026  ·  PROJECT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229600" cy="869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4200" b="1" dirty="0">
                <a:solidFill>
                  <a:srgbClr val="0F172A"/>
                </a:solidFill>
                <a:latin typeface="Calibri"/>
              </a:rPr>
              <a:t>LLM-Powered </a:t>
            </a:r>
            <a:r>
              <a:rPr sz="4200" b="1" dirty="0">
                <a:solidFill>
                  <a:srgbClr val="0D9488"/>
                </a:solidFill>
                <a:latin typeface="Calibri"/>
              </a:rPr>
              <a:t>MedDRA
</a:t>
            </a:r>
            <a:endParaRPr lang="en-US" sz="4200" b="1" dirty="0">
              <a:solidFill>
                <a:srgbClr val="0D9488"/>
              </a:solidFill>
              <a:latin typeface="Calibri"/>
            </a:endParaRPr>
          </a:p>
          <a:p>
            <a:pPr algn="l">
              <a:lnSpc>
                <a:spcPts val="1820"/>
              </a:lnSpc>
            </a:pPr>
            <a:r>
              <a:rPr sz="4200" b="1" dirty="0">
                <a:solidFill>
                  <a:srgbClr val="0F172A"/>
                </a:solidFill>
                <a:latin typeface="Calibri"/>
              </a:rPr>
              <a:t>Adverse Event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Calibri"/>
              </a:defRPr>
            </a:pPr>
            <a:r>
              <a:t>Build a production-ready web tool that transforms free-text adverse events into standardized MedDRA codes — powered by Retrieval-Augmented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64008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Isabella Catharina Wiest &amp; Naghme Dashti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Else Kröner Fresenius Center for Digital Health  ·  TU Dresden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669280"/>
            <a:ext cx="10972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5760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dirty="0"/>
              <a:t>EKFZ</a:t>
            </a:r>
            <a:br>
              <a:rPr dirty="0"/>
            </a:br>
            <a:r>
              <a:rPr dirty="0"/>
              <a:t>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5669280"/>
            <a:ext cx="10972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66960" y="5760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TUD</a:t>
            </a:r>
            <a:br/>
            <a:r>
              <a:t>Logo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47120" y="5669280"/>
            <a:ext cx="731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0" y="5760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CGC</a:t>
            </a:r>
            <a:br>
              <a:rPr dirty="0"/>
            </a:br>
            <a:r>
              <a:rPr dirty="0"/>
              <a:t>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Why Does This Matter?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💊  Adverse Events = backbone of drug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Every clinical trial generates hundreds to thousands of AE reports requiring coding.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📝  AEs are written as free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Heterogeneous, ambiguous descriptions: "blurry vision", "difficulty breathing", "Bilirubin Erhoehung"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⏱️  Manual MedDRA coding is a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Time-consuming, subjective, prone to inter-rater variability, hard to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🔍  80,000+ possible codes in MedDRA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Finding the right LLT is like a needle in a haystack.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600200"/>
            <a:ext cx="4937760" cy="1097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❌  Current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📝 Free-text AE  →  👨‍⚕️ Manual Coding  →  📋 MedDRA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⏳ Hours per trial  ·  ❌ Inconsistent  ·  📉 Doesn't scale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880360"/>
            <a:ext cx="4937760" cy="109728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Calibri"/>
              </a:defRPr>
            </a:pPr>
            <a:r>
              <a:t>✅  Our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📝 Free-text AE  →  🤖 LLM + RAG  →  ✓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766E"/>
                </a:solidFill>
                <a:latin typeface="Calibri"/>
              </a:defRPr>
            </a:pPr>
            <a:r>
              <a:t>⚡ Seconds per AE  ·  🎯 91–97% correct  ·  📈 Scalable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206240"/>
            <a:ext cx="4937760" cy="1188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2976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"The current manual coding process is not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just slow — it introduces systematic bias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and reduces reproducibility across trials."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MedDRA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Medical Dictionary for Regulatory Activities — 5-level hierarchical terminology by 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4389120" cy="6858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66F1"/>
                </a:solidFill>
                <a:latin typeface="Calibri"/>
              </a:defRPr>
            </a:pPr>
            <a:r>
              <a:t>SOC — System Organ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9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27 categories · e.g., "Nervous system disorders"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6791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399" y="2788920"/>
            <a:ext cx="3840480" cy="685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59" y="28620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PT — Preferred 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59" y="31363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~22,000 terms · e.g., "Headache"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564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19" y="3566160"/>
            <a:ext cx="3291840" cy="6858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79" y="3639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LLT — Low-Level 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79" y="39136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~80,000 terms · e.g., "Throbbing headache"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Calibri"/>
              </a:defRPr>
            </a:pPr>
            <a:r>
              <a:t>Real-World Examples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331720"/>
            <a:ext cx="566928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23591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766E"/>
                </a:solidFill>
                <a:latin typeface="Calibri"/>
              </a:defRPr>
            </a:pPr>
            <a:r>
              <a:t>Free-text 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766E"/>
                </a:solidFill>
                <a:latin typeface="Calibri"/>
              </a:defRPr>
            </a:pPr>
            <a:r>
              <a:t>LLT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766E"/>
                </a:solidFill>
                <a:latin typeface="Calibri"/>
              </a:defRPr>
            </a:pPr>
            <a:r>
              <a:t>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359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766E"/>
                </a:solidFill>
                <a:latin typeface="Calibri"/>
              </a:defRPr>
            </a:pPr>
            <a:r>
              <a:t>SOC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2788920"/>
            <a:ext cx="56692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"blurry vision"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Blurred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Vision blurred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Eye disorders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291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"difficulty breathing"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291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Shortness of breath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291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Dyspnea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Respiratory disorders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703320"/>
            <a:ext cx="56692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0" y="37490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"Skin rash after injection"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7490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Injection site rash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Inj. site reaction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Skin disorders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4389120"/>
            <a:ext cx="5669280" cy="7315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943600" y="4389120"/>
            <a:ext cx="54864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44348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0F172A"/>
                </a:solidFill>
                <a:latin typeface="Calibri"/>
              </a:defRPr>
            </a:pPr>
            <a:r>
              <a:t>Key Challenge: Multiple LLTs can be clinically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0F172A"/>
                </a:solidFill>
                <a:latin typeface="Calibri"/>
              </a:defRPr>
            </a:pPr>
            <a:r>
              <a:t>acceptable for the same AE — e.g., "Headache"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0F172A"/>
                </a:solidFill>
                <a:latin typeface="Calibri"/>
              </a:defRPr>
            </a:pPr>
            <a:r>
              <a:t>vs "Headache NOS" vs "Cephalalgia"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Retrieval-Augmented Reasoning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Three-stage architecture: semantic retrieval → structured LLM reasoning → deterministic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01752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240279" y="2286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Candidate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39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Dense semantic retrieval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MiniLM embeddings (384-dim)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Top-100 similar LLTs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via cosine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01752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14999" y="2286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LLM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63239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Chain-of-Thought prompting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LLaMA-3.3-70B-Instruct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Structured comparison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Output: "Final answer: &lt;LLT&gt;"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103120"/>
            <a:ext cx="301752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89720" y="2286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Hierarchical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063239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Deterministic lookup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LLT → PT → SOC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MedDRA v25.0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Traceable &amp; auditable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46320"/>
            <a:ext cx="10972800" cy="7315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4846320"/>
            <a:ext cx="54864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766E"/>
                </a:solidFill>
                <a:latin typeface="Calibri"/>
              </a:defRPr>
            </a:pPr>
            <a:r>
              <a:t>💡  The LLM pipeline already exists as a FastAPI backend — your mission is to build the web application &amp; user workflow around it!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  <a:latin typeface="Calibri"/>
              </a:defRPr>
            </a:pPr>
            <a:r>
              <a:t>VALIDATED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Performance Across 3 Clinical Trials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Tested on AML oncology datasets — validated by blinded expert clinical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D9488"/>
                </a:solidFill>
                <a:latin typeface="Calibri"/>
              </a:defRPr>
            </a:pPr>
            <a:r>
              <a:t>91–97%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Clinical Correctness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D9488"/>
                </a:solidFill>
                <a:latin typeface="Calibri"/>
              </a:defRPr>
            </a:pPr>
            <a:r>
              <a:t>78–85%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PT-Level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D9488"/>
                </a:solidFill>
                <a:latin typeface="Calibri"/>
              </a:defRPr>
            </a:pPr>
            <a:r>
              <a:t>90–93%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SOC-Level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202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D9488"/>
                </a:solidFill>
                <a:latin typeface="Calibri"/>
              </a:defRPr>
            </a:pPr>
            <a:r>
              <a:t>50–58%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Exact LLT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RAG Pipeline vs Zero-Shot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PT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913632"/>
            <a:ext cx="411480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554480" y="3913632"/>
            <a:ext cx="349758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3420" y="39136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33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Zero-shot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4261104"/>
            <a:ext cx="411480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554480" y="4261104"/>
            <a:ext cx="2962656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68496" y="4261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1830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SOC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926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54480" y="5020056"/>
            <a:ext cx="411480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554480" y="5020056"/>
            <a:ext cx="3785615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91456" y="50200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40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Zero-shot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54480" y="5367528"/>
            <a:ext cx="411480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554480" y="5367528"/>
            <a:ext cx="3044952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50792" y="5367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200400"/>
            <a:ext cx="512064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3291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Why LLT Exact ≠ Clinical 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70332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📊  38–41% of 'errors' under strict LLT matching were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actually clinically acceptable alternatives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🩺  Multiple LLTs can be valid for the same AE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✅  Blinded expert review confirmed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   real-world clinical usability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→ That's why we need Human-in-the-Loop!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Calibri"/>
              </a:defRPr>
            </a:pPr>
            <a:r>
              <a:t>WHAT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Existing 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We've built Flask-based demos — your job is to create the production-ready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035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🎨  MedDRA RAG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Single AE text input → instant prediction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Shows LLT / PT / SOC with MedDRA codes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Top candidate terms with similarity scores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MedDRA hierarchy tree view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Latency tracking &amp; fallback indicator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Quick example buttons for testing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✅ Working prototype · Flask +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035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📋  Clinical Coding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Batch CSV/XLSX upload with progress bar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Row-by-row LLM prediction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Human-in-the-Loop: Accept / Reject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Top-5 alternative suggestions dropdown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Manual LLT override option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Export reviewed results as Excel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✅ Working prototype · Flask +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94960"/>
            <a:ext cx="475488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📸 Screenshot Placeholder — Demo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394960"/>
            <a:ext cx="475488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5440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📸 Screenshot Placeholder — Demo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89320"/>
            <a:ext cx="10972800" cy="5029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366F1"/>
                </a:solidFill>
                <a:latin typeface="Calibri"/>
              </a:defRPr>
            </a:pPr>
            <a:r>
              <a:t>🚀  These prototypes prove the concept works — now let's build it right!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  <a:latin typeface="Calibri"/>
              </a:defRPr>
            </a:pPr>
            <a:r>
              <a:t>YOUR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What You Will Build 🛠️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6217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18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CSV/XLSX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7451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Drag &amp; drop adverse event files with column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67712"/>
            <a:ext cx="6217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FastAPI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877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Connect to existing LLM backend (black-box) via 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80944"/>
            <a:ext cx="6217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4495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Results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009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Display LLT/PT/SOC predictions with Top-5 alternatives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94176"/>
            <a:ext cx="6217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581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58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Human-in-the-Loop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1421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Accept / Reject / Modify each prediction interactively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07408"/>
            <a:ext cx="6217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4714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471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Progress Tracking +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274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Real-time progress bar, intermediate saves, CSV/Excel export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554480"/>
            <a:ext cx="42062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52360" y="1691640"/>
            <a:ext cx="155448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766E"/>
                </a:solidFill>
                <a:latin typeface="Calibri"/>
              </a:defRPr>
            </a:pPr>
            <a:r>
              <a:t>🧑‍💻 YOU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0574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Upload module &amp; file parsing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UI/UX for review workflow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API client for FastAPI calls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State management &amp; progress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Export functionality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Responsive, modern design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794760"/>
            <a:ext cx="4206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452360" y="3931920"/>
            <a:ext cx="1554480" cy="2743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52360" y="3931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366F1"/>
                </a:solidFill>
                <a:latin typeface="Calibri"/>
              </a:defRPr>
            </a:pPr>
            <a:r>
              <a:t>🎁 PROVIDED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2976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FastAPI backend (LLM pipeline)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MiniLM embeddings + retrieval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LLaMA-3.3-70B inference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MedDRA v25.0 data resources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394960"/>
            <a:ext cx="4206240" cy="7315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79" y="5440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❌ Out of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760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No model training, no NLP dev, no medical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1560" y="1783080"/>
            <a:ext cx="164592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766E"/>
                </a:solidFill>
                <a:latin typeface="Calibri"/>
              </a:defRPr>
            </a:pPr>
            <a:r>
              <a:t>🧑‍💻 FRONTEND — You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292608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Calibri"/>
              </a:defRPr>
            </a:pPr>
            <a:r>
              <a:t>📤  Upload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CSV/XLSX parsing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94560"/>
            <a:ext cx="292608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Calibri"/>
              </a:defRPr>
            </a:pPr>
            <a:r>
              <a:t>🔍  Review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Accept / Reject / Modify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194560"/>
            <a:ext cx="292608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Calibri"/>
              </a:defRPr>
            </a:pPr>
            <a:r>
              <a:t>💾  Export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CSV/Excel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Calibri"/>
              </a:defRPr>
            </a:pPr>
            <a:r>
              <a:t>⇅  REST API  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103327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1560" y="4069080"/>
            <a:ext cx="2011680" cy="2743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366F1"/>
                </a:solidFill>
                <a:latin typeface="Calibri"/>
              </a:defRPr>
            </a:pPr>
            <a:r>
              <a:t>🎁 BACKEND — Provided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480560"/>
            <a:ext cx="292608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630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Calibri"/>
              </a:defRPr>
            </a:pPr>
            <a:r>
              <a:t>🎯  MiniLM 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384-dim retrieval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480560"/>
            <a:ext cx="292608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Calibri"/>
              </a:defRPr>
            </a:pPr>
            <a:r>
              <a:t>🧠  LLaMA-3.3-70B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Chain-of-Thought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480560"/>
            <a:ext cx="292608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Calibri"/>
              </a:defRPr>
            </a:pPr>
            <a:r>
              <a:t>📖  MedDRA v25.0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LLT → PT → SOC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852160"/>
            <a:ext cx="2560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🖥 Frontend: React / Vue / Streamlit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5852160"/>
            <a:ext cx="2560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⚡ API: FastAPI (provided)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852160"/>
            <a:ext cx="2560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🧠 LLM: LLaMA-3.3-70B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5852160"/>
            <a:ext cx="2560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📦 Data: MedDRA 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45309"/>
                </a:solidFill>
                <a:latin typeface="Calibri"/>
              </a:defRPr>
            </a:pPr>
            <a:r>
              <a:t>SPRINT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Project Timeline &amp; Team Roles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627632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5820" y="1810512"/>
            <a:ext cx="27432" cy="640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Calibri"/>
              </a:defRPr>
            </a:pPr>
            <a:r>
              <a:t>Fri, 20 March —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105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Kick-off · Understand pipeline &amp; API docs  ·  Set up dev environment · Team roles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32304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5820" y="2615184"/>
            <a:ext cx="27432" cy="640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Calibri"/>
              </a:defRPr>
            </a:pPr>
            <a:r>
              <a:t>Mon, 23 March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1518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Build upload module · Connect to FastAPI  ·  Display prediction results · Basic UI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23697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5820" y="3419856"/>
            <a:ext cx="27432" cy="640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Calibri"/>
              </a:defRPr>
            </a:pPr>
            <a:r>
              <a:t>Tue, 24 March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1985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Human-in-the-Loop review UI · Progress bar  ·  Top-5 alternatives · Export · Testing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41648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5820" y="4224528"/>
            <a:ext cx="27432" cy="640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9684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Calibri"/>
              </a:defRPr>
            </a:pPr>
            <a:r>
              <a:t>Wed, 25 March — 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24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Polish UI · Bug fixes  ·  Prepare demo · Presentation rehearsal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463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7731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Calibri"/>
              </a:defRPr>
            </a:pPr>
            <a:r>
              <a:t>Wed, 25 March — PM  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Final Presentation &amp; Live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Suggested Team Roles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011680"/>
            <a:ext cx="4754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103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Frontend Developer(s)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3957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React/Vue components, UI, styling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816352"/>
            <a:ext cx="4754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2907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9077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API Integration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200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FastAPI connection, data flow, errors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621024"/>
            <a:ext cx="4754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0" y="371246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71246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Clinical / Domain Expert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005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MedDRA understanding, test cases, UX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425696"/>
            <a:ext cx="4754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0" y="45171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5171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Demo &amp; Presentation Lead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8097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Final demo flow, slides,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E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Calibri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What You'll Gain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Calibri"/>
              </a:defRPr>
            </a:pPr>
            <a:r>
              <a:t>🏥 Clinical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MedDRA terminology &amp;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Adverse event coding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Pharmacovigilance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Clinical trial safety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Human-in-the-Loop AI in medicine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34747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💻 Technical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REST API integration (FastAPI)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Modern frontend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LLM pipeline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RAG system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Data upload/export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160020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38159" y="1600200"/>
            <a:ext cx="347472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39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🎯 Professional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Agile sprint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Team collaboration &amp;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Product demo &amp; pitching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Real-world Digital Health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Research-to-production thinking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54880"/>
            <a:ext cx="10972800" cy="173736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766E"/>
                </a:solidFill>
                <a:latin typeface="Calibri"/>
              </a:defRPr>
            </a:pPr>
            <a:r>
              <a:t>Ready to Build the Future of Drug Safety?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🧬 Real clinical data pipeline    ·    🤖 State-of-the-art LLM technology    ·    🏥 Direct impact on pharmacovigilance    ·    🚀 Research paper → Production 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Supervisors: Isabella Catharina Wiest &amp; Naghme Dashti  |  Else Kröner Fresenius Center for Digital Health, TU Dresden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Spring School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1297</Words>
  <Application>Microsoft Office PowerPoint</Application>
  <PresentationFormat>Widescreen</PresentationFormat>
  <Paragraphs>249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Naghme Dashti</cp:lastModifiedBy>
  <cp:revision>2</cp:revision>
  <dcterms:created xsi:type="dcterms:W3CDTF">2013-01-27T09:14:16Z</dcterms:created>
  <dcterms:modified xsi:type="dcterms:W3CDTF">2026-03-12T13:25:05Z</dcterms:modified>
  <cp:category/>
</cp:coreProperties>
</file>