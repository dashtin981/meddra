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200400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Calibri"/>
              </a:defRPr>
            </a:pPr>
            <a:r>
              <a:t>CLINICUM DIGITALE  ·  SPRING 2026  ·  PROJECT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4200" b="1">
                <a:solidFill>
                  <a:srgbClr val="0F172A"/>
                </a:solidFill>
                <a:latin typeface="Calibri"/>
              </a:rPr>
              <a:t>LLM-Powered </a:t>
            </a:r>
            <a:r>
              <a:rPr sz="4200" b="1">
                <a:solidFill>
                  <a:srgbClr val="EA580C"/>
                </a:solidFill>
                <a:latin typeface="Calibri"/>
              </a:rPr>
              <a:t>Tumor
</a:t>
            </a:r>
            <a:r>
              <a:rPr sz="4200" b="1">
                <a:solidFill>
                  <a:srgbClr val="0F172A"/>
                </a:solidFill>
                <a:latin typeface="Calibri"/>
              </a:rPr>
              <a:t>Documentation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Calibri"/>
              </a:defRPr>
            </a:pPr>
            <a:r>
              <a:t>Build a web tool that extracts structured oncological information from clinical documents — powered by LLM-based Retrieval-Augmented Generation and ICD-O coding.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6400800" cy="8229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Isabella Catharina Wiest &amp; Naghme Dashti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Else Kröner Fresenius Center for Digital Health  ·  TU Dresden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669280"/>
            <a:ext cx="10972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5760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</a:t>
            </a:r>
            <a:br/>
            <a:r>
              <a:t>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5669280"/>
            <a:ext cx="10972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57607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TUD</a:t>
            </a:r>
            <a:br/>
            <a:r>
              <a:t>Logo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47120" y="5669280"/>
            <a:ext cx="731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5760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CGC</a:t>
            </a:r>
            <a:br/>
            <a:r>
              <a:t>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Tumor Documentation Burden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🏥  Oncology generates massive unstructured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Physician letters, pathology reports, follow-up notes, imaging summaries — all as free-text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📋  Manual documentation is a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Transferring tumor info into structured registries is time-consuming, error-prone, and burdens clinical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🔗  Fragmented patient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Relevant tumor data is scattered across multiple documents per patient — morphology, topography, staging, grading, therapy.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⚠️  Incomplete documentation affects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Missing or delayed structured data impacts therapy decisions, interdisciplinary collaboration, and tumor board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00200"/>
            <a:ext cx="4937760" cy="1097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❌  Current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📄 Multiple Docs  →  👨‍⚕️ Manual Reading  →  📋 Registry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⏳ 30+ min per patient  ·  ❌ Error-prone  ·  📉 Incomplete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880360"/>
            <a:ext cx="4937760" cy="10972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Calibri"/>
              </a:defRPr>
            </a:pPr>
            <a:r>
              <a:t>✅  Our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📄 Upload Docs  →  🤖 LLM Pipeline  →  ✓ Structured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⚡ Automated  ·  🎯 Structured ICD-O  ·  📈 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206240"/>
            <a:ext cx="493776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📊  Real-World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617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77 OCR documents across 50 patients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Multiple document types per patient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63 tumor-level ground truth labels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Some patients have multiple tumors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ICD-O: The Oncology Coding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International Classification of Diseases for Oncology — dual-axis coding: WHERE (Topography) + WHAT (Morphology)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📍  Topography — WHERE is the tumor?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1,338 terms in ICD-O-3 dictionary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Format: C00–C80 (e.g., C61 = Prostate, C50 = Breast)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Specifies anatomical site of primary tumor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Examples: C73.9 Thyroid, C56.9 Ovary, C18.0 Cecum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5029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50292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🔬  Morphology — WHAT type of tumor?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2,903 terms in ICD-O-3 dictionary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Format: XXXX/B (e.g., 8140/3 = Adenocarcinoma)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Describes histology + behavior (/0 benign … /3 malignant)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Examples: 8500/3 Ductal carcinoma, 8720/3 Melanoma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Clinical Document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029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Arztbrief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7919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Physician letter with diagnosis, therapy plan, clinical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72968"/>
            <a:ext cx="5029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64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Pathologiebefund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5204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Histological analysis, grading, morphology, resection margins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14215"/>
            <a:ext cx="5029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10565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087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Verlaufsdoku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3616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Follow-up documentation, staging, response assessment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55464"/>
            <a:ext cx="5029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46903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928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Befundbericht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029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Imaging/diagnostic reports, tumor size, metastasis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715000"/>
            <a:ext cx="5029200" cy="5029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5715000"/>
            <a:ext cx="54864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760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Calibri"/>
              </a:defRPr>
            </a:pPr>
            <a:r>
              <a:t>Each document type requires a specific prompt</a:t>
            </a:r>
            <a:br/>
            <a:r>
              <a:t>to extract the right oncological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Multi-Stage LLM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Four stages: Document Ingestion → LLM Summarization → RAG Retrieval → ICD-O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5603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Document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2286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OCR-processed clinical docs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Multiple docs per patient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Merge into unified text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Clean &amp; chunk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5603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19456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LLM 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286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GPT-OSS-120B on Pluto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Tumor-focused extraction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Map-reduce chunking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7–10 sentence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5603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199" y="219456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RAG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286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BGE-M3 embeddings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Cosine similarity search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Top-K Morph candidates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Top-K Topo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011680"/>
            <a:ext cx="25603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19456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ICD-O Code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71800"/>
            <a:ext cx="2286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LLM reasoning over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summary + candidates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Structured JSON output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Morph + Topo + Reason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10972800" cy="7315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54864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Calibri"/>
              </a:defRPr>
            </a:pPr>
            <a:r>
              <a:t>💡  The entire LLM pipeline (Stages 1–4) already exists as a FastAPI backend — your mission is to build the web interface for document upload, type assignment, and result display!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852160"/>
            <a:ext cx="2743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🧠 LLM: GPT-OSS-120B / LLaMA-3.3-70B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39" y="5852160"/>
            <a:ext cx="2743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39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📐 Embeddings: BGE-M3 (1024-dim)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852160"/>
            <a:ext cx="2743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📖 ICD-O-3: 2903 Morph + 1338 Topo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5852160"/>
            <a:ext cx="2743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⚡ API: FastAPI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Where We Are — Research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Baseline evaluation on 50 patients with patient-level ANY-match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OCR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GT Tumor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20240"/>
            <a:ext cx="2560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  <a:latin typeface="Calibri"/>
              </a:defRPr>
            </a:pPr>
            <a:r>
              <a:t>4,241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ICD-O Dictionary</a:t>
            </a:r>
            <a:br/>
            <a:r>
              <a:t>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Key Research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548640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✅  LLM reasoning is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58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When correct code is in candidates: 81% Morph / 78% Topo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70248"/>
            <a:ext cx="5486400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  <a:latin typeface="Calibri"/>
              </a:defRPr>
            </a:pPr>
            <a:r>
              <a:t>⚠️  Retrieval is the 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085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Correct code in Top-K candidates only 23% (Morph) / 19% (Topo)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0056"/>
            <a:ext cx="548640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657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📊  NOS code bias observed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58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Generic "NOS" codes over-represented; specific codes under-retrieved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69864"/>
            <a:ext cx="548640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155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🔍  Strict matching underestimates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081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C61 vs C61.9 fails strict match — relaxed Topo accuracy: 21%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108960"/>
            <a:ext cx="493776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What This Means for Your 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118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The pipeline works — the LLM is capable of making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good coding decisions when given the right candidates.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What's missing is a user-facing tool that lets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clinicians: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📤  Upload &amp; organize their documents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🏷  Assign document types for prompt selection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▶️  Trigger the pipeline via the API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📋  View structured results clearly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✏️  Review &amp; correct predictions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→ That's exactly what you'll build!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Calibri"/>
              </a:defRPr>
            </a:pPr>
            <a:r>
              <a:t>WHAT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Current Pipeline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Research pipeline runs as scripts — no web interface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📄  OCR &amp; Summarization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92608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Task 2.1 — Complete ✅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PaddleOCR → 77 text files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Merged to 50 patient docs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GPT-OSS-120B summarization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Map-reduce chunking strategy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Robust multi-stage fallback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Output: structured JSON +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📐  Embeddings &amp;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292608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Task 2.2 + 2.3 — Complete ✅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BGE-M3 embeddings (1024-dim)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50 summary embeddings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2,903 morphology embeddings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1,338 topography embeddings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Cosine similarity Top-K retrieval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Hybrid semantic + lexical (v3)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92024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🧠  RAG ICD-O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68880"/>
            <a:ext cx="31089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Task 2.3 — In Progress 🔄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LLM reads summary + candidates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Picks best Morph + Topo code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Outputs structured JSON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3 pipeline versions (v1→v3)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v3: organ-based filtering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FastAPI wrapper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📸 Placeholder — Patient Summary Example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349240"/>
            <a:ext cx="502920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📸 Placeholder — ICD-O Prediction JSON Example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35040"/>
            <a:ext cx="1097280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366F1"/>
                </a:solidFill>
                <a:latin typeface="Calibri"/>
              </a:defRPr>
            </a:pPr>
            <a:r>
              <a:t>🚀  The pipeline runs as Python scripts — now let's make it a usable web tool!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Calibri"/>
              </a:defRPr>
            </a:pPr>
            <a:r>
              <a:t>YOUR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You Will Build 🛠️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6217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Drag-and-Drop Document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5623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Upload multiple medical documents (PDF, text) with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21991"/>
            <a:ext cx="6217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6771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Document Type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23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Assign each document: Arztbrief, Pathologiebefund, Verlaufsdoku, etc.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9503"/>
            <a:ext cx="6217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35223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3522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Pipeline Trigger via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912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Start LLM pipeline with document-type-specific prompts per document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57015"/>
            <a:ext cx="6217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0273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Structured Results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587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Show extracted tumor info: ICD-O Topography, Morphology, Grading, 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24527"/>
            <a:ext cx="6217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024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27024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Review &amp; Edit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2627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Clinicians can review, correct, and confirm extracted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6217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37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3775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Export Structured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1937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Download results as JSON / CSV for registry integration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554480"/>
            <a:ext cx="42062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52360" y="1691640"/>
            <a:ext cx="1554480" cy="2743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Calibri"/>
              </a:defRPr>
            </a:pPr>
            <a:r>
              <a:t>🧑‍💻 YOU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0574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Document upload &amp; preview UI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Document type selector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API client for pipeline trigger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Results display &amp; visualization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Review/edit workflow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Export functionality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703320"/>
            <a:ext cx="42062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52360" y="3840480"/>
            <a:ext cx="1554480" cy="274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840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Calibri"/>
              </a:defRPr>
            </a:pPr>
            <a:r>
              <a:t>🎁 PROVIDED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20624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FastAPI backend (full pipeline)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LLM summarization + RAG retrieval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ICD-O-3 dictionary embeddings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Document-type-specific prompts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5212080"/>
            <a:ext cx="4206240" cy="7315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5257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Out of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577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No NLP/OCR/AI dev, no model training,</a:t>
            </a:r>
            <a:br/>
            <a:r>
              <a:t>no medical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783080"/>
            <a:ext cx="1828800" cy="2743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Calibri"/>
              </a:defRPr>
            </a:pPr>
            <a:r>
              <a:t>🧑‍💻 FRONTEND — You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194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📤  Upload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Drag &amp; drop + type assign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94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240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▶️  Pipeline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Trigger &amp; progress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94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40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📊  Results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Structured tumor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194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✏️  Review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Edit &amp; confirm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Calibri"/>
              </a:defRPr>
            </a:pPr>
            <a:r>
              <a:t>⇅  REST API  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31920"/>
            <a:ext cx="103327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069080"/>
            <a:ext cx="2011680" cy="274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Calibri"/>
              </a:defRPr>
            </a:pPr>
            <a:r>
              <a:t>🎁 BACKEND — Provided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4480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526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📄  Doc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OCR + merging + cleaning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480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526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🧠  LLM Summarization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GPT-OSS-120B / LLaMA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480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526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📐  RAG 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BGE-M3 cosine Top-K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4480560"/>
            <a:ext cx="2286000" cy="868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526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🏷  ICD-O Assignment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Morph + Topo + Reason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🖥 Frontend: React / Vue / Streamlit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⚡ API: FastAPI (provided)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🧠 LLMs: GPT-OSS-120B / LLaMA-3.3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5852160"/>
            <a:ext cx="256032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📐 Embeddings: BGE-M3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5309"/>
                </a:solidFill>
                <a:latin typeface="Calibri"/>
              </a:defRPr>
            </a:pPr>
            <a:r>
              <a:t>SPRINT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Project Timeline &amp; Team Roles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627632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" y="1810512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Fri, 20 March —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Kick-off · Understand pipeline &amp; API docs · Set up dev environment · Team roles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32304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" y="2615184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Mon, 23 March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1518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Build upload module with drag &amp; drop · Document type selector · API connection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36976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" y="3419856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Tue, 24 March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198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Results display · Review/edit panel · Progress tracking · Export · Testing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41648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" y="4224528"/>
            <a:ext cx="27432" cy="640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684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Wed, 25 March —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24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Polish UI · Bug fixes · Prepare demo · Presentation rehearsal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4632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731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Wed, 25 March — PM  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Final Presentation &amp;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Suggested Team Roles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011680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103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Frontend Developer(s)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Upload UI, results view, responsive design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816352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907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9077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API Integration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 connection, pipeline trigger, data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621024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7124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1246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Clinical / Domain Expert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005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ICD-O understanding, document types, UX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425696"/>
            <a:ext cx="4754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5171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5171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Demo &amp; Presentation Lead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8097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Final demo flow, slides, live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3200400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580C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You'll Gain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548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🏥 Clinical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ICD-O oncology coding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Clinical document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Tumor documentation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Structured vs unstructured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Interdisciplinary oncology processes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4747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💻 Technical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REST API integration (FastAPI)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Modern frontend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LLM pipeline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RAG system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Document processing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600200"/>
            <a:ext cx="3474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59" y="1600200"/>
            <a:ext cx="347472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🎯 Professional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Agile sprint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Team collaboration &amp;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Product demo &amp; pitching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Real-world Digital Health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→  Research-to-production thinking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0972800" cy="17373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  <a:latin typeface="Calibri"/>
              </a:defRPr>
            </a:pPr>
            <a:r>
              <a:t>Ready to Transform Oncology Documentation?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🧬 Real clinical oncology data    ·    🤖 State-of-the-art LLM + RAG    ·    🏥 Direct impact on tumor registries    ·    🚀 Research pipeline → Production 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Supervisors: Isabella Catharina Wiest &amp; Naghme Dashti  |  Else Kröner Fresenius Center for Digital Health, TU Dresden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EKFZ Digital Health  ·  TU Dresden  ·  Spring School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